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71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358854-597C-7372-276D-A6F0027D5830}" v="160" dt="2025-04-24T06:02:03.0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168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24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257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803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6558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500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371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525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842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902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245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319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6221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32466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8787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3587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92997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41538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693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685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92105" y="101740"/>
            <a:ext cx="4361688" cy="3475236"/>
          </a:xfrm>
        </p:spPr>
        <p:txBody>
          <a:bodyPr>
            <a:normAutofit/>
          </a:bodyPr>
          <a:lstStyle/>
          <a:p>
            <a:pPr algn="l"/>
            <a:r>
              <a:rPr lang="en-US" sz="5400" b="0" dirty="0">
                <a:latin typeface="-webkit-standard"/>
              </a:rPr>
              <a:t>Hybrid Music Recommendation System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92106" y="3738965"/>
            <a:ext cx="4584285" cy="230690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algn="l"/>
            <a:r>
              <a:rPr lang="en-US" dirty="0">
                <a:latin typeface="-webkit-standard"/>
              </a:rPr>
              <a:t>Personalized Song Suggestions Using Machine Learning</a:t>
            </a:r>
          </a:p>
          <a:p>
            <a:pPr marL="285750" indent="-285750" algn="l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Group Members: Hrushitha, Mohith Yadav, Anuj Bansal</a:t>
            </a:r>
            <a:endParaRPr lang="en-US" dirty="0">
              <a:ea typeface="+mn-lt"/>
              <a:cs typeface="+mn-lt"/>
            </a:endParaRPr>
          </a:p>
          <a:p>
            <a:pPr marL="285750" indent="-285750" algn="l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Machine Learning(CIS 490-01) / Dr Ashok Kumar Patel / 24th April 2025</a:t>
            </a:r>
          </a:p>
          <a:p>
            <a:pPr algn="l"/>
            <a:endParaRPr lang="en-US" dirty="0">
              <a:latin typeface="-webkit-standard"/>
            </a:endParaRPr>
          </a:p>
        </p:txBody>
      </p:sp>
      <p:pic>
        <p:nvPicPr>
          <p:cNvPr id="4" name="Picture 3" descr="Colored pencils inside a pencil holder which is on top of a wood table">
            <a:extLst>
              <a:ext uri="{FF2B5EF4-FFF2-40B4-BE49-F238E27FC236}">
                <a16:creationId xmlns:a16="http://schemas.microsoft.com/office/drawing/2014/main" id="{E7626E7A-AF5F-FFD8-7E27-E00967D55E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096" r="-3" b="-3"/>
          <a:stretch/>
        </p:blipFill>
        <p:spPr>
          <a:xfrm>
            <a:off x="20" y="1"/>
            <a:ext cx="65755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1995F-5898-8071-9920-D0592A3E7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latin typeface="-webkit-standard"/>
              </a:rPr>
              <a:t>Project Motivation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0DE72-BBB7-5771-5CFA-A06041CB5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Music streaming apps often overwhelm users with choices.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Personalized recommendations can increase user satisfaction and platform engagement.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Goal: </a:t>
            </a:r>
            <a:r>
              <a:rPr lang="en-US" i="1" dirty="0">
                <a:ea typeface="+mn-lt"/>
                <a:cs typeface="+mn-lt"/>
              </a:rPr>
              <a:t>Build a recommender that combines content similarity and predicted popularity.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680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6C76F-7BCA-5F7C-33EE-2A965A308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latin typeface="-webkit-standard"/>
              </a:rPr>
              <a:t>Dataset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940BD-8D00-63A1-45F1-5C61091EF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Source:</a:t>
            </a:r>
            <a:r>
              <a:rPr lang="en-US" dirty="0">
                <a:ea typeface="+mn-lt"/>
                <a:cs typeface="+mn-lt"/>
              </a:rPr>
              <a:t> Spotify Tracks Dataset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Size:</a:t>
            </a:r>
            <a:r>
              <a:rPr lang="en-US" dirty="0">
                <a:ea typeface="+mn-lt"/>
                <a:cs typeface="+mn-lt"/>
              </a:rPr>
              <a:t> ~93,000 songs, 21 features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Key Features Used:</a:t>
            </a:r>
            <a:endParaRPr lang="en-US" dirty="0"/>
          </a:p>
          <a:p>
            <a:r>
              <a:rPr lang="en-US" i="1" dirty="0" err="1">
                <a:ea typeface="+mn-lt"/>
                <a:cs typeface="+mn-lt"/>
              </a:rPr>
              <a:t>Acousticness</a:t>
            </a:r>
            <a:r>
              <a:rPr lang="en-US" i="1" dirty="0">
                <a:ea typeface="+mn-lt"/>
                <a:cs typeface="+mn-lt"/>
              </a:rPr>
              <a:t>, Danceability, Energy, Tempo, Valence, Loudness, etc.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Target Proxy: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i="1" dirty="0">
                <a:ea typeface="+mn-lt"/>
                <a:cs typeface="+mn-lt"/>
              </a:rPr>
              <a:t>Popularity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472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D4866-3908-B48F-C24A-717B3D205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Machine-Learning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69016-B268-EDE4-69BE-64CD010A5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0FA355-8EC5-2F8A-39DE-497473E2000F}"/>
              </a:ext>
            </a:extLst>
          </p:cNvPr>
          <p:cNvSpPr/>
          <p:nvPr/>
        </p:nvSpPr>
        <p:spPr>
          <a:xfrm>
            <a:off x="1484310" y="2666999"/>
            <a:ext cx="1667681" cy="10954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Load &amp; prepare data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2316B2-6F95-A367-AA0D-373D35B5B88F}"/>
              </a:ext>
            </a:extLst>
          </p:cNvPr>
          <p:cNvSpPr/>
          <p:nvPr/>
        </p:nvSpPr>
        <p:spPr>
          <a:xfrm>
            <a:off x="3723286" y="2666999"/>
            <a:ext cx="1827494" cy="10954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Train-test split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13D85B-79D6-1E1F-962D-3209C66884DC}"/>
              </a:ext>
            </a:extLst>
          </p:cNvPr>
          <p:cNvSpPr/>
          <p:nvPr/>
        </p:nvSpPr>
        <p:spPr>
          <a:xfrm>
            <a:off x="6096000" y="2666998"/>
            <a:ext cx="1767840" cy="10954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Train Model (</a:t>
            </a:r>
            <a:r>
              <a:rPr lang="en-US" dirty="0" err="1"/>
              <a:t>Xgboost</a:t>
            </a:r>
            <a:r>
              <a:rPr lang="en-US" dirty="0"/>
              <a:t> &amp; random forest)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9E9122-54F9-B673-352B-D387FFB0D7F1}"/>
              </a:ext>
            </a:extLst>
          </p:cNvPr>
          <p:cNvSpPr/>
          <p:nvPr/>
        </p:nvSpPr>
        <p:spPr>
          <a:xfrm>
            <a:off x="8573845" y="2666997"/>
            <a:ext cx="1893346" cy="10954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Add predicted popularity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8AA31D-9D88-49BF-1CCD-D0AF6C427845}"/>
              </a:ext>
            </a:extLst>
          </p:cNvPr>
          <p:cNvSpPr/>
          <p:nvPr/>
        </p:nvSpPr>
        <p:spPr>
          <a:xfrm>
            <a:off x="8603838" y="4185171"/>
            <a:ext cx="1863353" cy="10443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Build Hybrid recommender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99D02F-CA6C-0FAF-9623-67155A46E3BE}"/>
              </a:ext>
            </a:extLst>
          </p:cNvPr>
          <p:cNvSpPr/>
          <p:nvPr/>
        </p:nvSpPr>
        <p:spPr>
          <a:xfrm>
            <a:off x="6096000" y="4169034"/>
            <a:ext cx="1767840" cy="10766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Recommend songs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3E45736-67C1-C3B0-573F-2F0B4DB0D94E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3151991" y="3214743"/>
            <a:ext cx="5712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22E0D27-82B5-E556-115B-D8227001B42B}"/>
              </a:ext>
            </a:extLst>
          </p:cNvPr>
          <p:cNvCxnSpPr>
            <a:cxnSpLocks/>
          </p:cNvCxnSpPr>
          <p:nvPr/>
        </p:nvCxnSpPr>
        <p:spPr>
          <a:xfrm>
            <a:off x="5550780" y="3214740"/>
            <a:ext cx="5452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B51AABD-6DA3-60F9-EA29-384403821C75}"/>
              </a:ext>
            </a:extLst>
          </p:cNvPr>
          <p:cNvCxnSpPr>
            <a:stCxn id="6" idx="3"/>
          </p:cNvCxnSpPr>
          <p:nvPr/>
        </p:nvCxnSpPr>
        <p:spPr>
          <a:xfrm flipV="1">
            <a:off x="7863840" y="3214740"/>
            <a:ext cx="710005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E738011-0C36-5D00-E087-7F792D178B3D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9520518" y="3762484"/>
            <a:ext cx="14997" cy="4226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EED1D85-DFCD-D6EC-484F-ADEFCBA336BC}"/>
              </a:ext>
            </a:extLst>
          </p:cNvPr>
          <p:cNvCxnSpPr>
            <a:stCxn id="8" idx="1"/>
          </p:cNvCxnSpPr>
          <p:nvPr/>
        </p:nvCxnSpPr>
        <p:spPr>
          <a:xfrm flipH="1" flipV="1">
            <a:off x="7863840" y="4707365"/>
            <a:ext cx="73999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6958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CFBF2-E40C-68A8-1601-1F1104B3D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latin typeface="-webkit-standard"/>
              </a:rPr>
              <a:t>Data Cleaning &amp; Preparation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0B6D1-F439-E102-4BE4-6AA90E50C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Removed duplicates and invalid dates.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Converted </a:t>
            </a:r>
            <a:r>
              <a:rPr lang="en-US" dirty="0" err="1">
                <a:latin typeface="Consolas"/>
              </a:rPr>
              <a:t>release_date</a:t>
            </a:r>
            <a:r>
              <a:rPr lang="en-US" dirty="0">
                <a:ea typeface="+mn-lt"/>
                <a:cs typeface="+mn-lt"/>
              </a:rPr>
              <a:t> to datetime.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Added </a:t>
            </a:r>
            <a:r>
              <a:rPr lang="en-US" dirty="0" err="1">
                <a:latin typeface="Consolas"/>
              </a:rPr>
              <a:t>release_year</a:t>
            </a:r>
            <a:r>
              <a:rPr lang="en-US" dirty="0">
                <a:ea typeface="+mn-lt"/>
                <a:cs typeface="+mn-lt"/>
              </a:rPr>
              <a:t> and normalized audio features using </a:t>
            </a:r>
            <a:r>
              <a:rPr lang="en-US" b="1" dirty="0" err="1">
                <a:ea typeface="+mn-lt"/>
                <a:cs typeface="+mn-lt"/>
              </a:rPr>
              <a:t>MinMaxScaler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Used 70%+ popularity filter to define “liked” songs.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015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1E9A1-A752-5B7E-3941-196E44BA6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latin typeface="-webkit-standard"/>
              </a:rPr>
              <a:t>Feature Correlation Heatmap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0CAB9-69E7-B39E-2E75-7DCB59F81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Visual: </a:t>
            </a:r>
            <a:r>
              <a:rPr lang="en-US" i="1" dirty="0">
                <a:ea typeface="+mn-lt"/>
                <a:cs typeface="+mn-lt"/>
              </a:rPr>
              <a:t>Correlation heatmap (optional screenshot of your heatmap here)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Found relationships among:</a:t>
            </a:r>
            <a:endParaRPr lang="en-US" dirty="0"/>
          </a:p>
          <a:p>
            <a:r>
              <a:rPr lang="en-US" i="1" dirty="0">
                <a:ea typeface="+mn-lt"/>
                <a:cs typeface="+mn-lt"/>
              </a:rPr>
              <a:t>Energy vs. Loudness</a:t>
            </a:r>
            <a:endParaRPr lang="en-US" dirty="0"/>
          </a:p>
          <a:p>
            <a:r>
              <a:rPr lang="en-US" i="1" dirty="0">
                <a:ea typeface="+mn-lt"/>
                <a:cs typeface="+mn-lt"/>
              </a:rPr>
              <a:t>Danceability vs. Valence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596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D72EC-4339-BA12-A628-02BC5CCD1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latin typeface="-webkit-standard"/>
              </a:rPr>
              <a:t>Recommendation Strategy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73658-B63F-E84C-0F27-9E7D87685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Hybrid Approach: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Content-Based Filtering</a:t>
            </a:r>
            <a:r>
              <a:rPr lang="en-US" dirty="0">
                <a:ea typeface="+mn-lt"/>
                <a:cs typeface="+mn-lt"/>
              </a:rPr>
              <a:t> using KNN (cosine similarity)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Popularity Prediction</a:t>
            </a:r>
            <a:r>
              <a:rPr lang="en-US" dirty="0">
                <a:ea typeface="+mn-lt"/>
                <a:cs typeface="+mn-lt"/>
              </a:rPr>
              <a:t> using </a:t>
            </a:r>
            <a:r>
              <a:rPr lang="en-US" dirty="0" err="1">
                <a:ea typeface="+mn-lt"/>
                <a:cs typeface="+mn-lt"/>
              </a:rPr>
              <a:t>XGBoost</a:t>
            </a:r>
            <a:r>
              <a:rPr lang="en-US" dirty="0">
                <a:ea typeface="+mn-lt"/>
                <a:cs typeface="+mn-lt"/>
              </a:rPr>
              <a:t> &amp; Random Forest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Combined scores: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Final Score=α×ML Score+(1−α)×Content </a:t>
            </a:r>
            <a:r>
              <a:rPr lang="en-US" dirty="0" err="1">
                <a:ea typeface="+mn-lt"/>
                <a:cs typeface="+mn-lt"/>
              </a:rPr>
              <a:t>ScoreFinal</a:t>
            </a:r>
            <a:r>
              <a:rPr lang="en-US" dirty="0">
                <a:ea typeface="+mn-lt"/>
                <a:cs typeface="+mn-lt"/>
              </a:rPr>
              <a:t> Score=α×ML Score+(1−α)×Content Score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486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B931A-D128-1CB2-0984-1B46EE3C9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latin typeface="-webkit-standard"/>
              </a:rPr>
              <a:t>ML Models for Popularity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F5801-B573-06BB-5030-9AD7BD2DA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Used </a:t>
            </a:r>
            <a:r>
              <a:rPr lang="en-US" dirty="0" err="1">
                <a:latin typeface="Consolas"/>
              </a:rPr>
              <a:t>XGBoostRegressor</a:t>
            </a:r>
            <a:r>
              <a:rPr lang="en-US" dirty="0">
                <a:ea typeface="+mn-lt"/>
                <a:cs typeface="+mn-lt"/>
              </a:rPr>
              <a:t> and </a:t>
            </a:r>
            <a:r>
              <a:rPr lang="en-US" dirty="0" err="1">
                <a:latin typeface="Consolas"/>
              </a:rPr>
              <a:t>RandomForestRegressor</a:t>
            </a:r>
            <a:endParaRPr lang="en-US" dirty="0" err="1"/>
          </a:p>
          <a:p>
            <a:r>
              <a:rPr lang="en-US" dirty="0">
                <a:ea typeface="+mn-lt"/>
                <a:cs typeface="+mn-lt"/>
              </a:rPr>
              <a:t>Evaluation Metrics: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MAE, MSE, R², ROC AUC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Feature Importance:</a:t>
            </a:r>
            <a:r>
              <a:rPr lang="en-US" dirty="0">
                <a:ea typeface="+mn-lt"/>
                <a:cs typeface="+mn-lt"/>
              </a:rPr>
              <a:t> (Bar chart for each model)</a:t>
            </a:r>
            <a:endParaRPr lang="en-US" dirty="0"/>
          </a:p>
          <a:p>
            <a:r>
              <a:rPr lang="en-US" i="1" dirty="0">
                <a:ea typeface="+mn-lt"/>
                <a:cs typeface="+mn-lt"/>
              </a:rPr>
              <a:t>Energy, Valence, Danceability were top predictors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272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CD389-EECC-2AF7-BB1F-A7A185E1D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User Input – New Interactive Flow</a:t>
            </a:r>
            <a:r>
              <a:rPr lang="en-US" b="0" dirty="0">
                <a:latin typeface="-webkit-standard"/>
              </a:rPr>
              <a:t> 🌟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CAD8D-19BD-C8D7-211C-975FED135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Five-step user interaction: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Mood (happy / sad / chill / hype)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Tempo (slow / medium / fast)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Danceable? (yes / no)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Era (90s / 2000s / 2010s / any)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Style (acoustic / electronic)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292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BE789-6061-8310-0318-821E7C2A9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latin typeface="-webkit-standard"/>
              </a:rPr>
              <a:t>Personalized Filtering Logic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C64FC-A22F-306D-7FFE-98F9800CC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Example logic: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If mood == "happy" → valence &gt; 0.6, energy &gt; 0.5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If danceable == "yes" → danceability &gt; 0.6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Filters applied dynamically using user inputs.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827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2C5C4-E7AE-9165-67E1-9A2883B1D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593" y="340661"/>
            <a:ext cx="11272332" cy="1543990"/>
          </a:xfrm>
        </p:spPr>
        <p:txBody>
          <a:bodyPr vert="horz" wrap="square" lIns="91440" tIns="45720" rIns="91440" bIns="45720" rtlCol="0" anchor="b">
            <a:normAutofit/>
          </a:bodyPr>
          <a:lstStyle/>
          <a:p>
            <a:r>
              <a:rPr lang="en-US" sz="3600" dirty="0"/>
              <a:t>User Interaction – Demo Code (Screenshot)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E60326A-2B4A-6F6A-A0AC-1884411101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/>
        </p:blipFill>
        <p:spPr>
          <a:xfrm>
            <a:off x="450593" y="2066392"/>
            <a:ext cx="11294618" cy="378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704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7B6A5-0931-8DDB-99EB-82EF0B4CB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latin typeface="-webkit-standard"/>
              </a:rPr>
              <a:t>Final Model Output 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AF129-D918-4004-1F06-FA8B53BC1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Table of:</a:t>
            </a:r>
            <a:endParaRPr lang="en-US" dirty="0"/>
          </a:p>
          <a:p>
            <a:r>
              <a:rPr lang="en-US" i="1" dirty="0">
                <a:ea typeface="+mn-lt"/>
                <a:cs typeface="+mn-lt"/>
              </a:rPr>
              <a:t>Song Name</a:t>
            </a:r>
            <a:r>
              <a:rPr lang="en-US" dirty="0">
                <a:ea typeface="+mn-lt"/>
                <a:cs typeface="+mn-lt"/>
              </a:rPr>
              <a:t>, </a:t>
            </a:r>
            <a:r>
              <a:rPr lang="en-US" i="1" dirty="0">
                <a:ea typeface="+mn-lt"/>
                <a:cs typeface="+mn-lt"/>
              </a:rPr>
              <a:t>Release Date</a:t>
            </a:r>
            <a:r>
              <a:rPr lang="en-US" dirty="0">
                <a:ea typeface="+mn-lt"/>
                <a:cs typeface="+mn-lt"/>
              </a:rPr>
              <a:t>, </a:t>
            </a:r>
            <a:r>
              <a:rPr lang="en-US" i="1" dirty="0">
                <a:ea typeface="+mn-lt"/>
                <a:cs typeface="+mn-lt"/>
              </a:rPr>
              <a:t>Popularity</a:t>
            </a:r>
            <a:r>
              <a:rPr lang="en-US" dirty="0">
                <a:ea typeface="+mn-lt"/>
                <a:cs typeface="+mn-lt"/>
              </a:rPr>
              <a:t>, </a:t>
            </a:r>
            <a:r>
              <a:rPr lang="en-US" i="1" dirty="0">
                <a:ea typeface="+mn-lt"/>
                <a:cs typeface="+mn-lt"/>
              </a:rPr>
              <a:t>Predicted Popularity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Based on cosine similarity + ML score.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143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580BC-4C18-53D8-BE63-FF4B60478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latin typeface="-webkit-standard"/>
              </a:rPr>
              <a:t>Challenges Faced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4400F-7512-6651-FFCF-CFDAC108B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Initial dataset had many missing/inconsistent dates.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Matching song names with partial user inputs.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Handling edge cases where no songs matched user preferences.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226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D1679-A8B7-058C-94C8-194E8661C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latin typeface="-webkit-standard"/>
              </a:rPr>
              <a:t>Learnings &amp; Reflections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059E9-594F-4846-A7E1-3FE10E6CA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Strengthened skills in: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Data cleaning and visualization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ML regression and classification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Hybrid recommendation system design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Interpreting user inputs into filtering logic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995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95551-EE9F-01CD-0111-055649FDF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latin typeface="-webkit-standard"/>
              </a:rPr>
              <a:t>Future Scope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30D88-109B-718D-CF82-4C460AB4C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Add Spotify API for real-time playlists.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Include lyrics or genre metadata.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Deploy as a web app (Flask/</a:t>
            </a:r>
            <a:r>
              <a:rPr lang="en-US" dirty="0" err="1">
                <a:ea typeface="+mn-lt"/>
                <a:cs typeface="+mn-lt"/>
              </a:rPr>
              <a:t>Streamlit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Optimize KNN neighborhood with </a:t>
            </a:r>
            <a:r>
              <a:rPr lang="en-US" dirty="0" err="1">
                <a:ea typeface="+mn-lt"/>
                <a:cs typeface="+mn-lt"/>
              </a:rPr>
              <a:t>GridSearchCV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88579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B27D1-B261-E069-D53B-345605F4D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latin typeface="-webkit-standard"/>
              </a:rPr>
              <a:t>Thank You!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D6D11-248B-31F7-7BC1-98F74761D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>
                <a:latin typeface="-webkit-standard"/>
              </a:rPr>
              <a:t>Questions?</a:t>
            </a:r>
            <a:endParaRPr lang="en-US" sz="3200"/>
          </a:p>
        </p:txBody>
      </p:sp>
    </p:spTree>
    <p:extLst>
      <p:ext uri="{BB962C8B-B14F-4D97-AF65-F5344CB8AC3E}">
        <p14:creationId xmlns:p14="http://schemas.microsoft.com/office/powerpoint/2010/main" val="37991975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214</TotalTime>
  <Words>496</Words>
  <Application>Microsoft Macintosh PowerPoint</Application>
  <PresentationFormat>Widescreen</PresentationFormat>
  <Paragraphs>77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-webkit-standard</vt:lpstr>
      <vt:lpstr>Arial</vt:lpstr>
      <vt:lpstr>Consolas</vt:lpstr>
      <vt:lpstr>Corbel</vt:lpstr>
      <vt:lpstr>Parallax</vt:lpstr>
      <vt:lpstr>Hybrid Music Recommendation System</vt:lpstr>
      <vt:lpstr>Project Motivation</vt:lpstr>
      <vt:lpstr>Dataset Overview</vt:lpstr>
      <vt:lpstr>Machine-Learning pipeline</vt:lpstr>
      <vt:lpstr>Data Cleaning &amp; Preparation</vt:lpstr>
      <vt:lpstr>Feature Correlation Heatmap</vt:lpstr>
      <vt:lpstr>Recommendation Strategy</vt:lpstr>
      <vt:lpstr>ML Models for Popularity</vt:lpstr>
      <vt:lpstr>User Input – New Interactive Flow 🌟</vt:lpstr>
      <vt:lpstr>Personalized Filtering Logic</vt:lpstr>
      <vt:lpstr>User Interaction – Demo Code (Screenshot)</vt:lpstr>
      <vt:lpstr>Final Model Output Example</vt:lpstr>
      <vt:lpstr>Challenges Faced</vt:lpstr>
      <vt:lpstr>Learnings &amp; Reflections</vt:lpstr>
      <vt:lpstr>Future Scope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Hrushitha Darna</cp:lastModifiedBy>
  <cp:revision>68</cp:revision>
  <dcterms:created xsi:type="dcterms:W3CDTF">2013-07-15T20:26:40Z</dcterms:created>
  <dcterms:modified xsi:type="dcterms:W3CDTF">2025-04-24T17:31:02Z</dcterms:modified>
</cp:coreProperties>
</file>